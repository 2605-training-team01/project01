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A0AF08B-6632-492F-AFEE-DF0E90B549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408A28E-0C13-41C1-AA17-7961C8BDE76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49B5CE8-8211-4D47-B2AC-24A3E2521EF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97D75CA-E7CE-419D-B69F-B364D67D46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9D52C285-0307-4751-AE12-902BC15B391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9114A394-B507-44E3-A1C3-9807DDB3784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9CA90186-64BD-4CCA-A677-9BE595CE6E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E7005255-6724-4AAC-B080-9B1C5F0C703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EC16AF34-4298-4616-8D7C-BBFD0E2D44D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A10837D4-B374-4210-80F0-9AF19A6B53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0FC9C7F8-1D03-4B81-81EA-A7E8431037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제목 텍스트의 서식을 편집하려면 클릭하십시오</a:t>
            </a: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6C0943A-3858-41CE-9F03-D1F9AA756C6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DD1E09F-8F3A-4B09-A28D-B06581743E7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74CEB3D-0C63-4C7A-BDF1-A35EC324A1E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제목 텍스트의 서식을 편집하려면 클릭하십시오</a:t>
            </a: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개요 텍스트의 서식을 편집하려면 클릭하십시오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2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3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4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5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6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7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16D3C6D-3126-4498-AE2E-E9F7DEBE2D8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0F78B41-C3EF-40F1-B00C-EE21BCD674E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제목 텍스트의 서식을 편집하려면 클릭하십시오</a:t>
            </a: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개요 텍스트의 서식을 편집하려면 클릭하십시오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2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3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4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5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6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7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개요 텍스트의 서식을 편집하려면 클릭하십시오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2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3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4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5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6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7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837BBA0-8412-46CF-91F4-738CB195C0F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2D96495-015E-4355-BF92-4E0324EA328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제목 텍스트의 서식을 편집하려면 클릭하십시오</a:t>
            </a: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692FF60-B486-4CFD-A411-A2A78F623DF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6E6ACDC-71C4-4D00-BAD7-2FBA5845F68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pc="-1" strike="noStrike">
                <a:solidFill>
                  <a:srgbClr val="000000"/>
                </a:solidFill>
                <a:latin typeface="Noto Sans KR"/>
              </a:rPr>
              <a:t>제목 텍스트의 서식을 편집하려면 클릭하십시오</a:t>
            </a:r>
            <a:r>
              <a:rPr b="0" lang="en-US" sz="44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Noto Sans KR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 KR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Noto Sans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 KR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Noto Sans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992CED1-9535-465A-BC6B-7F14D9B1285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31F54EB-42A1-419C-9374-03523CE603F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그래픽 1" descr="배지 체크 표시1 단색으로 채워진"/>
          <p:cNvPicPr/>
          <p:nvPr/>
        </p:nvPicPr>
        <p:blipFill>
          <a:blip r:embed="rId1"/>
          <a:stretch/>
        </p:blipFill>
        <p:spPr>
          <a:xfrm>
            <a:off x="6543720" y="3786480"/>
            <a:ext cx="367920" cy="367920"/>
          </a:xfrm>
          <a:prstGeom prst="rect">
            <a:avLst/>
          </a:prstGeom>
          <a:ln w="0">
            <a:noFill/>
          </a:ln>
        </p:spPr>
      </p:pic>
      <p:pic>
        <p:nvPicPr>
          <p:cNvPr id="51" name="그래픽 2" descr="배지 체크 표시1 단색으로 채워진"/>
          <p:cNvPicPr/>
          <p:nvPr/>
        </p:nvPicPr>
        <p:blipFill>
          <a:blip r:embed="rId2"/>
          <a:stretch/>
        </p:blipFill>
        <p:spPr>
          <a:xfrm>
            <a:off x="6565680" y="4558320"/>
            <a:ext cx="367920" cy="367920"/>
          </a:xfrm>
          <a:prstGeom prst="rect">
            <a:avLst/>
          </a:prstGeom>
          <a:ln w="0">
            <a:noFill/>
          </a:ln>
        </p:spPr>
      </p:pic>
      <p:sp>
        <p:nvSpPr>
          <p:cNvPr id="52" name="TextBox 3"/>
          <p:cNvSpPr/>
          <p:nvPr/>
        </p:nvSpPr>
        <p:spPr>
          <a:xfrm>
            <a:off x="1478160" y="1839240"/>
            <a:ext cx="30297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KoPubWorld돋움체 Light"/>
                <a:ea typeface="KoPubWorld돋움체 Light"/>
              </a:rPr>
              <a:t> </a:t>
            </a:r>
            <a:r>
              <a:rPr b="1" lang="ko-KR" sz="2000" spc="-1" strike="noStrike">
                <a:solidFill>
                  <a:schemeClr val="lt1"/>
                </a:solidFill>
                <a:latin typeface="KoPubWorld돋움체 Light"/>
                <a:ea typeface="KoPubWorld돋움체 Light"/>
              </a:rPr>
              <a:t>시범도입관 기본 지표 변화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3" name="직사각형 1"/>
          <p:cNvSpPr/>
          <p:nvPr/>
        </p:nvSpPr>
        <p:spPr>
          <a:xfrm>
            <a:off x="360000" y="356400"/>
            <a:ext cx="11507760" cy="648252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맑은 고딕"/>
            </a:endParaRPr>
          </a:p>
        </p:txBody>
      </p:sp>
      <p:cxnSp>
        <p:nvCxnSpPr>
          <p:cNvPr id="54" name="직선 연결선 1"/>
          <p:cNvCxnSpPr/>
          <p:nvPr/>
        </p:nvCxnSpPr>
        <p:spPr>
          <a:xfrm>
            <a:off x="671760" y="848160"/>
            <a:ext cx="10970640" cy="1440"/>
          </a:xfrm>
          <a:prstGeom prst="straightConnector1">
            <a:avLst/>
          </a:prstGeom>
          <a:ln w="34925">
            <a:solidFill>
              <a:srgbClr val="d0cece"/>
            </a:solidFill>
            <a:round/>
          </a:ln>
        </p:spPr>
      </p:cxnSp>
      <p:sp>
        <p:nvSpPr>
          <p:cNvPr id="55" name="직사각형 2"/>
          <p:cNvSpPr/>
          <p:nvPr/>
        </p:nvSpPr>
        <p:spPr>
          <a:xfrm>
            <a:off x="621360" y="810000"/>
            <a:ext cx="1863000" cy="87120"/>
          </a:xfrm>
          <a:prstGeom prst="rect">
            <a:avLst/>
          </a:prstGeom>
          <a:solidFill>
            <a:srgbClr val="c0000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ctr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6" name="TextBox 5"/>
          <p:cNvSpPr/>
          <p:nvPr/>
        </p:nvSpPr>
        <p:spPr>
          <a:xfrm>
            <a:off x="569160" y="471240"/>
            <a:ext cx="14878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 u="sng">
                <a:solidFill>
                  <a:schemeClr val="dk1">
                    <a:lumMod val="50000"/>
                    <a:lumOff val="50000"/>
                  </a:schemeClr>
                </a:solidFill>
                <a:uFillTx/>
                <a:latin typeface="KoPubWorld돋움체 Light"/>
                <a:ea typeface="KoPubWorld돋움체 Light"/>
              </a:rPr>
              <a:t>04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7" name="TextBox 6"/>
          <p:cNvSpPr/>
          <p:nvPr/>
        </p:nvSpPr>
        <p:spPr>
          <a:xfrm>
            <a:off x="866520" y="430920"/>
            <a:ext cx="21258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Noto Sans KR"/>
              </a:rPr>
              <a:t> </a:t>
            </a:r>
            <a:r>
              <a:rPr b="1" lang="ko-KR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Noto Sans KR"/>
              </a:rPr>
              <a:t>화면 흐름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8" name="TextBox 7"/>
          <p:cNvSpPr/>
          <p:nvPr/>
        </p:nvSpPr>
        <p:spPr>
          <a:xfrm>
            <a:off x="619560" y="1116000"/>
            <a:ext cx="10719360" cy="55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</a:rPr>
              <a:t>      </a:t>
            </a:r>
            <a:r>
              <a:rPr b="0" lang="ko-KR" sz="1200" spc="-1" strike="noStrike">
                <a:solidFill>
                  <a:schemeClr val="dk1"/>
                </a:solidFill>
                <a:latin typeface="Noto Sans KR"/>
              </a:rPr>
              <a:t>대기 화면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</a:rPr>
              <a:t>       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</a:t>
            </a:r>
            <a:r>
              <a:rPr b="0" lang="ko-KR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이용 방법 선택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</a:t>
            </a:r>
            <a:r>
              <a:rPr b="0" lang="ko-KR" sz="1050" spc="-1" strike="noStrike">
                <a:solidFill>
                  <a:schemeClr val="dk1"/>
                </a:solidFill>
                <a:latin typeface="Noto Sans KR"/>
                <a:ea typeface="Noto Sans KR"/>
              </a:rPr>
              <a:t>메뉴 조회 및 선택</a:t>
            </a: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</a:t>
            </a:r>
            <a:r>
              <a:rPr b="0" lang="ko-KR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옵션 선택      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</a:t>
            </a:r>
            <a:r>
              <a:rPr b="0" lang="ko-KR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장바구니 관리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</a:t>
            </a:r>
            <a:r>
              <a:rPr b="0" lang="ko-KR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할인 적용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</a:t>
            </a:r>
            <a:r>
              <a:rPr b="0" lang="ko-KR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카드 결제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</a:t>
            </a:r>
            <a:r>
              <a:rPr b="0" lang="ko-KR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포인트 적립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</a:t>
            </a:r>
            <a:r>
              <a:rPr b="0" lang="ko-KR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영수증 선택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</a:t>
            </a:r>
            <a:r>
              <a:rPr b="0" lang="ko-KR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주문 완료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</a:t>
            </a:r>
            <a:r>
              <a:rPr b="0" lang="ko-KR" sz="1050" spc="-1" strike="noStrike">
                <a:solidFill>
                  <a:schemeClr val="dk1"/>
                </a:solidFill>
                <a:latin typeface="Noto Sans KR"/>
                <a:ea typeface="Noto Sans KR"/>
              </a:rPr>
              <a:t>최근 주문 재주문</a:t>
            </a:r>
            <a:endParaRPr b="0" lang="en-US" sz="105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</a:t>
            </a:r>
            <a:r>
              <a:rPr b="0" lang="ko-KR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주문완료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9" name="TextBox 8"/>
          <p:cNvSpPr/>
          <p:nvPr/>
        </p:nvSpPr>
        <p:spPr>
          <a:xfrm>
            <a:off x="2520000" y="1440000"/>
            <a:ext cx="4648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화면 터치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0" name="TextBox 10"/>
          <p:cNvSpPr/>
          <p:nvPr/>
        </p:nvSpPr>
        <p:spPr>
          <a:xfrm>
            <a:off x="2520000" y="1839240"/>
            <a:ext cx="4498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포장 </a:t>
            </a: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/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매장 선택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61" name="그룹 1"/>
          <p:cNvGrpSpPr/>
          <p:nvPr/>
        </p:nvGrpSpPr>
        <p:grpSpPr>
          <a:xfrm>
            <a:off x="2520000" y="1922760"/>
            <a:ext cx="5971320" cy="1496160"/>
            <a:chOff x="2520000" y="1922760"/>
            <a:chExt cx="5971320" cy="1496160"/>
          </a:xfrm>
        </p:grpSpPr>
        <p:sp>
          <p:nvSpPr>
            <p:cNvPr id="62" name="TextBox 11"/>
            <p:cNvSpPr/>
            <p:nvPr/>
          </p:nvSpPr>
          <p:spPr>
            <a:xfrm>
              <a:off x="2520000" y="2348280"/>
              <a:ext cx="597132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---- </a:t>
              </a:r>
              <a:r>
                <a:rPr b="0" lang="ko-KR" sz="12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커피 </a:t>
              </a:r>
              <a:r>
                <a:rPr b="0" lang="en-US" sz="12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/ </a:t>
              </a:r>
              <a:r>
                <a:rPr b="0" lang="ko-KR" sz="12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티 </a:t>
              </a:r>
              <a:r>
                <a:rPr b="0" lang="en-US" sz="12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/ </a:t>
              </a:r>
              <a:r>
                <a:rPr b="0" lang="ko-KR" sz="12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디저트 </a:t>
              </a:r>
              <a:r>
                <a:rPr b="0" lang="en-US" sz="12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/ </a:t>
              </a:r>
              <a:r>
                <a:rPr b="0" lang="ko-KR" sz="12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굿즈 </a:t>
              </a:r>
              <a:r>
                <a:rPr b="0" lang="en-US" sz="12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/ </a:t>
              </a:r>
              <a:r>
                <a:rPr b="0" lang="ko-KR" sz="12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세트메뉴</a:t>
              </a:r>
              <a:endParaRPr b="0" lang="en-US" sz="12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  <p:sp>
          <p:nvSpPr>
            <p:cNvPr id="63" name="설명선 2 1"/>
            <p:cNvSpPr/>
            <p:nvPr/>
          </p:nvSpPr>
          <p:spPr>
            <a:xfrm>
              <a:off x="3373560" y="3273120"/>
              <a:ext cx="983520" cy="145800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34058"/>
                <a:gd name="adj5" fmla="val -401499"/>
                <a:gd name="adj6" fmla="val -34019"/>
              </a:avLst>
            </a:prstGeom>
            <a:solidFill>
              <a:srgbClr val="ffffff"/>
            </a:solidFill>
            <a:ln>
              <a:solidFill>
                <a:srgbClr val="d0cece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ko-KR" sz="8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아메리카노</a:t>
              </a:r>
              <a:r>
                <a:rPr b="0" lang="en-US" sz="8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, </a:t>
              </a:r>
              <a:r>
                <a:rPr b="0" lang="ko-KR" sz="8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라떼</a:t>
              </a:r>
              <a:endParaRPr b="0" lang="en-US" sz="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  <p:sp>
          <p:nvSpPr>
            <p:cNvPr id="64" name="설명선 2 2"/>
            <p:cNvSpPr/>
            <p:nvPr/>
          </p:nvSpPr>
          <p:spPr>
            <a:xfrm>
              <a:off x="4881240" y="1922760"/>
              <a:ext cx="983520" cy="145800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34058"/>
                <a:gd name="adj5" fmla="val 306270"/>
                <a:gd name="adj6" fmla="val -34019"/>
              </a:avLst>
            </a:prstGeom>
            <a:solidFill>
              <a:srgbClr val="ffffff"/>
            </a:solidFill>
            <a:ln>
              <a:solidFill>
                <a:srgbClr val="d0cece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ko-KR" sz="8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텀블링</a:t>
              </a:r>
              <a:r>
                <a:rPr b="0" lang="en-US" sz="8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, </a:t>
              </a:r>
              <a:r>
                <a:rPr b="0" lang="ko-KR" sz="8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키링</a:t>
              </a:r>
              <a:endParaRPr b="0" lang="en-US" sz="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  <p:sp>
          <p:nvSpPr>
            <p:cNvPr id="65" name="설명선 2 3"/>
            <p:cNvSpPr/>
            <p:nvPr/>
          </p:nvSpPr>
          <p:spPr>
            <a:xfrm>
              <a:off x="3782160" y="3082320"/>
              <a:ext cx="983520" cy="145800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34058"/>
                <a:gd name="adj5" fmla="val -295664"/>
                <a:gd name="adj6" fmla="val -34019"/>
              </a:avLst>
            </a:prstGeom>
            <a:solidFill>
              <a:srgbClr val="ffffff"/>
            </a:solidFill>
            <a:ln>
              <a:solidFill>
                <a:srgbClr val="d0cece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ko-KR" sz="8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허브티</a:t>
              </a:r>
              <a:r>
                <a:rPr b="0" lang="en-US" sz="8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, </a:t>
              </a:r>
              <a:r>
                <a:rPr b="0" lang="ko-KR" sz="8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아이스티</a:t>
              </a:r>
              <a:endParaRPr b="0" lang="en-US" sz="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66" name="설명선 2 4"/>
          <p:cNvSpPr/>
          <p:nvPr/>
        </p:nvSpPr>
        <p:spPr>
          <a:xfrm>
            <a:off x="8267760" y="2340000"/>
            <a:ext cx="2891160" cy="58068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34058"/>
              <a:gd name="adj5" fmla="val 20246"/>
              <a:gd name="adj6" fmla="val -45100"/>
            </a:avLst>
          </a:prstGeom>
          <a:solidFill>
            <a:srgbClr val="ffffff"/>
          </a:solidFill>
          <a:ln w="22225">
            <a:solidFill>
              <a:srgbClr val="ffd966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ko-KR" sz="9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맑은 고딕"/>
              </a:rPr>
              <a:t>옵션 선택 </a:t>
            </a:r>
            <a:r>
              <a:rPr b="1" lang="en-US" sz="9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맑은 고딕"/>
              </a:rPr>
              <a:t>: HOT · ICE / </a:t>
            </a:r>
            <a:r>
              <a:rPr b="1" lang="ko-KR" sz="9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맑은 고딕"/>
              </a:rPr>
              <a:t>사이즈</a:t>
            </a:r>
            <a:r>
              <a:rPr b="1" lang="en-US" sz="9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맑은 고딕"/>
              </a:rPr>
              <a:t>(M ·L) / </a:t>
            </a:r>
            <a:r>
              <a:rPr b="1" lang="ko-KR" sz="9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맑은 고딕"/>
              </a:rPr>
              <a:t>수량</a:t>
            </a:r>
            <a:endParaRPr b="0" lang="en-US" sz="9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7" name="설명선 2 5"/>
          <p:cNvSpPr/>
          <p:nvPr/>
        </p:nvSpPr>
        <p:spPr>
          <a:xfrm>
            <a:off x="5040000" y="3507480"/>
            <a:ext cx="983520" cy="1458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34058"/>
              <a:gd name="adj5" fmla="val -189829"/>
              <a:gd name="adj6" fmla="val -34019"/>
            </a:avLst>
          </a:prstGeom>
          <a:solidFill>
            <a:srgbClr val="ffffff"/>
          </a:solidFill>
          <a:ln>
            <a:solidFill>
              <a:srgbClr val="d0cec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ko-KR" sz="8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맑은 고딕"/>
              </a:rPr>
              <a:t>쿠키</a:t>
            </a:r>
            <a:r>
              <a:rPr b="0" lang="en-US" sz="8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맑은 고딕"/>
              </a:rPr>
              <a:t>, </a:t>
            </a:r>
            <a:r>
              <a:rPr b="0" lang="ko-KR" sz="8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맑은 고딕"/>
              </a:rPr>
              <a:t>케이크</a:t>
            </a:r>
            <a:endParaRPr b="0" lang="en-US" sz="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8" name="설명선 2 6"/>
          <p:cNvSpPr/>
          <p:nvPr/>
        </p:nvSpPr>
        <p:spPr>
          <a:xfrm>
            <a:off x="5760000" y="2379600"/>
            <a:ext cx="983520" cy="31932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34058"/>
              <a:gd name="adj5" fmla="val 50617"/>
              <a:gd name="adj6" fmla="val -45979"/>
            </a:avLst>
          </a:prstGeom>
          <a:solidFill>
            <a:srgbClr val="ffffff"/>
          </a:solidFill>
          <a:ln>
            <a:solidFill>
              <a:srgbClr val="d0cec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ko-KR" sz="8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맑은 고딕"/>
              </a:rPr>
              <a:t>음료 </a:t>
            </a:r>
            <a:r>
              <a:rPr b="0" lang="en-US" sz="8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맑은 고딕"/>
              </a:rPr>
              <a:t>+ </a:t>
            </a:r>
            <a:r>
              <a:rPr b="0" lang="ko-KR" sz="8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맑은 고딕"/>
              </a:rPr>
              <a:t>디저트 </a:t>
            </a:r>
            <a:endParaRPr b="0" lang="en-US" sz="8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8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맑은 고딕"/>
              </a:rPr>
              <a:t>@</a:t>
            </a:r>
            <a:r>
              <a:rPr b="0" lang="ko-KR" sz="8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맑은 고딕"/>
              </a:rPr>
              <a:t>굿즈</a:t>
            </a:r>
            <a:endParaRPr b="0" lang="en-US" sz="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9" name="TextBox 12"/>
          <p:cNvSpPr/>
          <p:nvPr/>
        </p:nvSpPr>
        <p:spPr>
          <a:xfrm>
            <a:off x="2557800" y="3507480"/>
            <a:ext cx="4648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수량변경 </a:t>
            </a: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/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상품삭제 </a:t>
            </a: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/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총액 확인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70" name="그룹 2"/>
          <p:cNvGrpSpPr/>
          <p:nvPr/>
        </p:nvGrpSpPr>
        <p:grpSpPr>
          <a:xfrm>
            <a:off x="6705000" y="3600000"/>
            <a:ext cx="1573920" cy="1027440"/>
            <a:chOff x="6705000" y="3600000"/>
            <a:chExt cx="1573920" cy="1027440"/>
          </a:xfrm>
        </p:grpSpPr>
        <p:sp>
          <p:nvSpPr>
            <p:cNvPr id="71" name="직사각형 3"/>
            <p:cNvSpPr/>
            <p:nvPr/>
          </p:nvSpPr>
          <p:spPr>
            <a:xfrm>
              <a:off x="7152120" y="3600000"/>
              <a:ext cx="1126800" cy="901080"/>
            </a:xfrm>
            <a:prstGeom prst="rect">
              <a:avLst/>
            </a:prstGeom>
            <a:noFill/>
            <a:ln w="15875">
              <a:solidFill>
                <a:srgbClr val="f4b183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맑은 고딕"/>
              </a:endParaRPr>
            </a:p>
          </p:txBody>
        </p:sp>
        <p:sp>
          <p:nvSpPr>
            <p:cNvPr id="72" name="직사각형 4"/>
            <p:cNvSpPr/>
            <p:nvPr/>
          </p:nvSpPr>
          <p:spPr>
            <a:xfrm>
              <a:off x="7318080" y="4371480"/>
              <a:ext cx="892800" cy="255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1" lang="ko-KR" sz="800" spc="-1" strike="noStrike">
                  <a:solidFill>
                    <a:schemeClr val="dk1">
                      <a:lumMod val="50000"/>
                      <a:lumOff val="50000"/>
                    </a:schemeClr>
                  </a:solidFill>
                  <a:latin typeface="맑은 고딕"/>
                </a:rPr>
                <a:t>메뉴선택 ◀◀</a:t>
              </a:r>
              <a:endParaRPr b="0" lang="en-US" sz="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  <p:sp>
          <p:nvSpPr>
            <p:cNvPr id="73" name="직사각형 5"/>
            <p:cNvSpPr/>
            <p:nvPr/>
          </p:nvSpPr>
          <p:spPr>
            <a:xfrm>
              <a:off x="6705000" y="3767400"/>
              <a:ext cx="892800" cy="568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US" sz="800" spc="-1" strike="noStrike">
                  <a:solidFill>
                    <a:schemeClr val="dk1">
                      <a:lumMod val="50000"/>
                      <a:lumOff val="50000"/>
                    </a:schemeClr>
                  </a:solidFill>
                  <a:latin typeface="맑은 고딕"/>
                </a:rPr>
                <a:t>▼</a:t>
              </a:r>
              <a:endParaRPr b="0" lang="en-US" sz="800" spc="-1" strike="noStrike">
                <a:solidFill>
                  <a:srgbClr val="000000"/>
                </a:solidFill>
                <a:latin typeface="Noto Sans KR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b="1" lang="en-US" sz="800" spc="-1" strike="noStrike">
                  <a:solidFill>
                    <a:schemeClr val="dk1">
                      <a:lumMod val="50000"/>
                      <a:lumOff val="50000"/>
                    </a:schemeClr>
                  </a:solidFill>
                  <a:latin typeface="맑은 고딕"/>
                </a:rPr>
                <a:t>▼</a:t>
              </a:r>
              <a:endParaRPr b="0" lang="en-US" sz="800" spc="-1" strike="noStrike">
                <a:solidFill>
                  <a:srgbClr val="000000"/>
                </a:solidFill>
                <a:latin typeface="Noto Sans KR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en-US" sz="800" spc="-1" strike="noStrike">
                <a:solidFill>
                  <a:srgbClr val="000000"/>
                </a:solidFill>
                <a:latin typeface="Noto Sans KR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b="1" lang="ko-KR" sz="800" spc="-1" strike="noStrike">
                  <a:solidFill>
                    <a:schemeClr val="dk1">
                      <a:lumMod val="50000"/>
                      <a:lumOff val="50000"/>
                    </a:schemeClr>
                  </a:solidFill>
                  <a:latin typeface="맑은 고딕"/>
                </a:rPr>
                <a:t>추가주문</a:t>
              </a:r>
              <a:endParaRPr b="0" lang="en-US" sz="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cxnSp>
        <p:nvCxnSpPr>
          <p:cNvPr id="74" name="직선 연결선 2"/>
          <p:cNvCxnSpPr/>
          <p:nvPr/>
        </p:nvCxnSpPr>
        <p:spPr>
          <a:xfrm>
            <a:off x="6275160" y="3646440"/>
            <a:ext cx="746280" cy="1440"/>
          </a:xfrm>
          <a:prstGeom prst="straightConnector1">
            <a:avLst/>
          </a:prstGeom>
          <a:ln w="15875">
            <a:solidFill>
              <a:srgbClr val="f4b183"/>
            </a:solidFill>
            <a:prstDash val="dash"/>
            <a:round/>
          </a:ln>
        </p:spPr>
      </p:cxnSp>
      <p:sp>
        <p:nvSpPr>
          <p:cNvPr id="75" name="TextBox 14"/>
          <p:cNvSpPr/>
          <p:nvPr/>
        </p:nvSpPr>
        <p:spPr>
          <a:xfrm>
            <a:off x="2550600" y="4047480"/>
            <a:ext cx="4648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쿠폰 입력 </a:t>
            </a: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/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모닝 </a:t>
            </a: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·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런치 할인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6" name="TextBox 15"/>
          <p:cNvSpPr/>
          <p:nvPr/>
        </p:nvSpPr>
        <p:spPr>
          <a:xfrm>
            <a:off x="2557080" y="4407480"/>
            <a:ext cx="4648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카드 </a:t>
            </a: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(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현금 </a:t>
            </a: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X)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7" name="TextBox 16"/>
          <p:cNvSpPr/>
          <p:nvPr/>
        </p:nvSpPr>
        <p:spPr>
          <a:xfrm>
            <a:off x="2550600" y="4796280"/>
            <a:ext cx="4648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전화 번호 입력 </a:t>
            </a: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/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적립 안함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8" name="TextBox 17"/>
          <p:cNvSpPr/>
          <p:nvPr/>
        </p:nvSpPr>
        <p:spPr>
          <a:xfrm>
            <a:off x="2557080" y="5127480"/>
            <a:ext cx="4648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출력 </a:t>
            </a: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/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스마트 영수증 </a:t>
            </a: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/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미발급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9" name="TextBox 18"/>
          <p:cNvSpPr/>
          <p:nvPr/>
        </p:nvSpPr>
        <p:spPr>
          <a:xfrm>
            <a:off x="2550600" y="5580000"/>
            <a:ext cx="4648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주문 번호 표시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0" name="TextBox 21"/>
          <p:cNvSpPr/>
          <p:nvPr/>
        </p:nvSpPr>
        <p:spPr>
          <a:xfrm>
            <a:off x="2557080" y="5940000"/>
            <a:ext cx="4648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고객의 최근 주문 내역 조회 및 재 주문 여부 확인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1" name="모서리가 둥근 직사각형 3"/>
          <p:cNvSpPr/>
          <p:nvPr/>
        </p:nvSpPr>
        <p:spPr>
          <a:xfrm>
            <a:off x="720000" y="1080000"/>
            <a:ext cx="1062360" cy="2754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82" name="모서리가 둥근 직사각형 4"/>
          <p:cNvSpPr/>
          <p:nvPr/>
        </p:nvSpPr>
        <p:spPr>
          <a:xfrm>
            <a:off x="736560" y="1839240"/>
            <a:ext cx="1062360" cy="2754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83" name="모서리가 둥근 직사각형 5"/>
          <p:cNvSpPr/>
          <p:nvPr/>
        </p:nvSpPr>
        <p:spPr>
          <a:xfrm>
            <a:off x="736560" y="3420000"/>
            <a:ext cx="1062360" cy="3589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84" name="모서리가 둥근 직사각형 6"/>
          <p:cNvSpPr/>
          <p:nvPr/>
        </p:nvSpPr>
        <p:spPr>
          <a:xfrm>
            <a:off x="718920" y="4047840"/>
            <a:ext cx="1062360" cy="2710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85" name="모서리가 둥근 직사각형 7"/>
          <p:cNvSpPr/>
          <p:nvPr/>
        </p:nvSpPr>
        <p:spPr>
          <a:xfrm>
            <a:off x="723600" y="4407840"/>
            <a:ext cx="1062360" cy="2710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86" name="모서리가 둥근 직사각형 8"/>
          <p:cNvSpPr/>
          <p:nvPr/>
        </p:nvSpPr>
        <p:spPr>
          <a:xfrm>
            <a:off x="726840" y="4767840"/>
            <a:ext cx="1062360" cy="2710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87" name="모서리가 둥근 직사각형 9"/>
          <p:cNvSpPr/>
          <p:nvPr/>
        </p:nvSpPr>
        <p:spPr>
          <a:xfrm>
            <a:off x="736560" y="5167800"/>
            <a:ext cx="1062360" cy="2710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88" name="모서리가 둥근 직사각형 10"/>
          <p:cNvSpPr/>
          <p:nvPr/>
        </p:nvSpPr>
        <p:spPr>
          <a:xfrm>
            <a:off x="736560" y="5545080"/>
            <a:ext cx="1062360" cy="2710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89" name="모서리가 둥근 직사각형 11"/>
          <p:cNvSpPr/>
          <p:nvPr/>
        </p:nvSpPr>
        <p:spPr>
          <a:xfrm>
            <a:off x="726840" y="5919840"/>
            <a:ext cx="1062360" cy="2710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90" name="모서리가 둥근 직사각형 12"/>
          <p:cNvSpPr/>
          <p:nvPr/>
        </p:nvSpPr>
        <p:spPr>
          <a:xfrm>
            <a:off x="720000" y="1440000"/>
            <a:ext cx="1062360" cy="2754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91" name="모서리가 둥근 직사각형 13"/>
          <p:cNvSpPr/>
          <p:nvPr/>
        </p:nvSpPr>
        <p:spPr>
          <a:xfrm rot="21579600">
            <a:off x="755640" y="2342880"/>
            <a:ext cx="1042920" cy="3556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92" name=""/>
          <p:cNvSpPr/>
          <p:nvPr/>
        </p:nvSpPr>
        <p:spPr>
          <a:xfrm>
            <a:off x="10800000" y="1080000"/>
            <a:ext cx="898920" cy="5506920"/>
          </a:xfrm>
          <a:prstGeom prst="downArrow">
            <a:avLst>
              <a:gd name="adj1" fmla="val 50000"/>
              <a:gd name="adj2" fmla="val 153000"/>
            </a:avLst>
          </a:prstGeom>
          <a:solidFill>
            <a:srgbClr val="1c1c1c"/>
          </a:solidFill>
          <a:ln w="1260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93" name="모서리가 둥근 직사각형 14"/>
          <p:cNvSpPr/>
          <p:nvPr/>
        </p:nvSpPr>
        <p:spPr>
          <a:xfrm>
            <a:off x="736560" y="6300000"/>
            <a:ext cx="1062360" cy="2710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94" name="TextBox 23"/>
          <p:cNvSpPr/>
          <p:nvPr/>
        </p:nvSpPr>
        <p:spPr>
          <a:xfrm>
            <a:off x="2550600" y="6300000"/>
            <a:ext cx="4648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주문 완료 안내 및 시스템 주문완료 번호 생성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5" name="설명선 2 7"/>
          <p:cNvSpPr/>
          <p:nvPr/>
        </p:nvSpPr>
        <p:spPr>
          <a:xfrm>
            <a:off x="7547760" y="6258240"/>
            <a:ext cx="2891160" cy="58068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34058"/>
              <a:gd name="adj5" fmla="val 20246"/>
              <a:gd name="adj6" fmla="val -45100"/>
            </a:avLst>
          </a:prstGeom>
          <a:solidFill>
            <a:srgbClr val="ffffff"/>
          </a:solidFill>
          <a:ln w="22225">
            <a:solidFill>
              <a:srgbClr val="1c1c1c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ko-KR" sz="12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맑은 고딕"/>
              </a:rPr>
              <a:t>회원별 맞춤 즐겨 찾기 메뉴 생성 안내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그래픽 31" descr="배지 체크 표시1 단색으로 채워진"/>
          <p:cNvPicPr/>
          <p:nvPr/>
        </p:nvPicPr>
        <p:blipFill>
          <a:blip r:embed="rId1"/>
          <a:stretch/>
        </p:blipFill>
        <p:spPr>
          <a:xfrm>
            <a:off x="6543720" y="3786480"/>
            <a:ext cx="367920" cy="367920"/>
          </a:xfrm>
          <a:prstGeom prst="rect">
            <a:avLst/>
          </a:prstGeom>
          <a:ln w="0">
            <a:noFill/>
          </a:ln>
        </p:spPr>
      </p:pic>
      <p:pic>
        <p:nvPicPr>
          <p:cNvPr id="97" name="그래픽 31" descr="배지 체크 표시1 단색으로 채워진"/>
          <p:cNvPicPr/>
          <p:nvPr/>
        </p:nvPicPr>
        <p:blipFill>
          <a:blip r:embed="rId2"/>
          <a:stretch/>
        </p:blipFill>
        <p:spPr>
          <a:xfrm>
            <a:off x="6565680" y="4558320"/>
            <a:ext cx="367920" cy="367920"/>
          </a:xfrm>
          <a:prstGeom prst="rect">
            <a:avLst/>
          </a:prstGeom>
          <a:ln w="0">
            <a:noFill/>
          </a:ln>
        </p:spPr>
      </p:pic>
      <p:sp>
        <p:nvSpPr>
          <p:cNvPr id="98" name="TextBox 231"/>
          <p:cNvSpPr/>
          <p:nvPr/>
        </p:nvSpPr>
        <p:spPr>
          <a:xfrm>
            <a:off x="1478160" y="1839240"/>
            <a:ext cx="30297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KoPubWorld돋움체 Light"/>
                <a:ea typeface="KoPubWorld돋움체 Light"/>
              </a:rPr>
              <a:t> </a:t>
            </a:r>
            <a:r>
              <a:rPr b="1" lang="ko-KR" sz="2000" spc="-1" strike="noStrike">
                <a:solidFill>
                  <a:schemeClr val="lt1"/>
                </a:solidFill>
                <a:latin typeface="KoPubWorld돋움체 Light"/>
                <a:ea typeface="KoPubWorld돋움체 Light"/>
              </a:rPr>
              <a:t>시범도입관 기본 지표 변화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9" name="직사각형 11"/>
          <p:cNvSpPr/>
          <p:nvPr/>
        </p:nvSpPr>
        <p:spPr>
          <a:xfrm>
            <a:off x="360000" y="180720"/>
            <a:ext cx="11507760" cy="629892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맑은 고딕"/>
            </a:endParaRPr>
          </a:p>
        </p:txBody>
      </p:sp>
      <p:cxnSp>
        <p:nvCxnSpPr>
          <p:cNvPr id="100" name="직선 연결선 22"/>
          <p:cNvCxnSpPr/>
          <p:nvPr/>
        </p:nvCxnSpPr>
        <p:spPr>
          <a:xfrm>
            <a:off x="671760" y="848160"/>
            <a:ext cx="10970640" cy="1440"/>
          </a:xfrm>
          <a:prstGeom prst="straightConnector1">
            <a:avLst/>
          </a:prstGeom>
          <a:ln w="34925">
            <a:solidFill>
              <a:srgbClr val="d0cece"/>
            </a:solidFill>
            <a:round/>
          </a:ln>
        </p:spPr>
      </p:cxnSp>
      <p:sp>
        <p:nvSpPr>
          <p:cNvPr id="101" name="직사각형 23"/>
          <p:cNvSpPr/>
          <p:nvPr/>
        </p:nvSpPr>
        <p:spPr>
          <a:xfrm>
            <a:off x="621360" y="810000"/>
            <a:ext cx="1863000" cy="87120"/>
          </a:xfrm>
          <a:prstGeom prst="rect">
            <a:avLst/>
          </a:prstGeom>
          <a:solidFill>
            <a:srgbClr val="c0000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02" name="TextBox 25"/>
          <p:cNvSpPr/>
          <p:nvPr/>
        </p:nvSpPr>
        <p:spPr>
          <a:xfrm>
            <a:off x="569160" y="471240"/>
            <a:ext cx="14878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 u="sng">
                <a:solidFill>
                  <a:schemeClr val="dk1">
                    <a:lumMod val="50000"/>
                    <a:lumOff val="50000"/>
                  </a:schemeClr>
                </a:solidFill>
                <a:uFillTx/>
                <a:latin typeface="KoPubWorld돋움체 Light"/>
                <a:ea typeface="KoPubWorld돋움체 Light"/>
              </a:rPr>
              <a:t>05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3" name="TextBox 26"/>
          <p:cNvSpPr/>
          <p:nvPr/>
        </p:nvSpPr>
        <p:spPr>
          <a:xfrm>
            <a:off x="866520" y="430920"/>
            <a:ext cx="32724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Noto Sans KR"/>
              </a:rPr>
              <a:t> </a:t>
            </a:r>
            <a:r>
              <a:rPr b="1" lang="ko-KR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Noto Sans KR"/>
              </a:rPr>
              <a:t>화면 흐름</a:t>
            </a:r>
            <a:r>
              <a:rPr b="1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Noto Sans KR"/>
              </a:rPr>
              <a:t>(</a:t>
            </a:r>
            <a:r>
              <a:rPr b="1" lang="ko-KR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Noto Sans KR"/>
              </a:rPr>
              <a:t>회원 전용 테이블</a:t>
            </a:r>
            <a:r>
              <a:rPr b="1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Noto Sans KR"/>
              </a:rPr>
              <a:t>)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4" name="TextBox 4"/>
          <p:cNvSpPr/>
          <p:nvPr/>
        </p:nvSpPr>
        <p:spPr>
          <a:xfrm>
            <a:off x="619560" y="1080000"/>
            <a:ext cx="10719360" cy="40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</a:rPr>
              <a:t>  </a:t>
            </a:r>
            <a:r>
              <a:rPr b="0" lang="ko-KR" sz="1200" spc="-1" strike="noStrike">
                <a:solidFill>
                  <a:schemeClr val="dk1"/>
                </a:solidFill>
                <a:latin typeface="Noto Sans KR"/>
              </a:rPr>
              <a:t>회원 등급 관리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</a:rPr>
              <a:t>       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</a:t>
            </a:r>
            <a:r>
              <a:rPr b="0" lang="ko-KR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쿠폰 관리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  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5" name="TextBox 9"/>
          <p:cNvSpPr/>
          <p:nvPr/>
        </p:nvSpPr>
        <p:spPr>
          <a:xfrm>
            <a:off x="2551320" y="1089000"/>
            <a:ext cx="4648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화면 터치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6" name="TextBox 19"/>
          <p:cNvSpPr/>
          <p:nvPr/>
        </p:nvSpPr>
        <p:spPr>
          <a:xfrm>
            <a:off x="2551320" y="1440000"/>
            <a:ext cx="4648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회원 고객 쿠폰 보유 및 사용 여부 확인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7" name="TextBox 37"/>
          <p:cNvSpPr/>
          <p:nvPr/>
        </p:nvSpPr>
        <p:spPr>
          <a:xfrm>
            <a:off x="2557800" y="1839240"/>
            <a:ext cx="4648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회원의 포인트 적립 및 사용 내역 조회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8" name="TextBox 44"/>
          <p:cNvSpPr/>
          <p:nvPr/>
        </p:nvSpPr>
        <p:spPr>
          <a:xfrm>
            <a:off x="2557080" y="2428200"/>
            <a:ext cx="4648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회원의 개인정보 확인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9" name="TextBox 45"/>
          <p:cNvSpPr/>
          <p:nvPr/>
        </p:nvSpPr>
        <p:spPr>
          <a:xfrm>
            <a:off x="2557080" y="2880000"/>
            <a:ext cx="4648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회원 등급 별 추가 할인 혜택 안내 및 추가 할인 혜택 유도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0" name="모서리가 둥근 직사각형 41"/>
          <p:cNvSpPr/>
          <p:nvPr/>
        </p:nvSpPr>
        <p:spPr>
          <a:xfrm>
            <a:off x="720000" y="1089000"/>
            <a:ext cx="1062360" cy="2754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111" name="모서리가 둥근 직사각형 54"/>
          <p:cNvSpPr/>
          <p:nvPr/>
        </p:nvSpPr>
        <p:spPr>
          <a:xfrm>
            <a:off x="720000" y="2340720"/>
            <a:ext cx="1078920" cy="3589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112" name="모서리가 둥근 직사각형 1"/>
          <p:cNvSpPr/>
          <p:nvPr/>
        </p:nvSpPr>
        <p:spPr>
          <a:xfrm>
            <a:off x="736560" y="1468080"/>
            <a:ext cx="1062360" cy="31464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113" name="모서리가 둥근 직사각형 2"/>
          <p:cNvSpPr/>
          <p:nvPr/>
        </p:nvSpPr>
        <p:spPr>
          <a:xfrm rot="21579600">
            <a:off x="719640" y="1875240"/>
            <a:ext cx="1079280" cy="3196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114" name=""/>
          <p:cNvSpPr/>
          <p:nvPr/>
        </p:nvSpPr>
        <p:spPr>
          <a:xfrm>
            <a:off x="10312920" y="1080000"/>
            <a:ext cx="581400" cy="1980000"/>
          </a:xfrm>
          <a:prstGeom prst="downArrow">
            <a:avLst>
              <a:gd name="adj1" fmla="val 50000"/>
              <a:gd name="adj2" fmla="val 153000"/>
            </a:avLst>
          </a:prstGeom>
          <a:solidFill>
            <a:srgbClr val="1c1c1c"/>
          </a:solidFill>
          <a:ln w="1260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15" name=""/>
          <p:cNvSpPr/>
          <p:nvPr/>
        </p:nvSpPr>
        <p:spPr>
          <a:xfrm>
            <a:off x="651240" y="1890720"/>
            <a:ext cx="12603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Noto Sans KR"/>
              </a:rPr>
              <a:t>  </a:t>
            </a:r>
            <a:r>
              <a:rPr b="0" lang="ko-KR" sz="1200" spc="-1" strike="noStrike">
                <a:solidFill>
                  <a:srgbClr val="000000"/>
                </a:solidFill>
                <a:latin typeface="Noto Sans KR"/>
              </a:rPr>
              <a:t>적립내역 조회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6" name=""/>
          <p:cNvSpPr/>
          <p:nvPr/>
        </p:nvSpPr>
        <p:spPr>
          <a:xfrm>
            <a:off x="651240" y="2340000"/>
            <a:ext cx="12603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Noto Sans KR"/>
              </a:rPr>
              <a:t>  </a:t>
            </a:r>
            <a:r>
              <a:rPr b="0" lang="ko-KR" sz="1200" spc="-1" strike="noStrike">
                <a:solidFill>
                  <a:srgbClr val="000000"/>
                </a:solidFill>
                <a:latin typeface="Noto Sans KR"/>
              </a:rPr>
              <a:t>회원 정보 조회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7" name=""/>
          <p:cNvSpPr/>
          <p:nvPr/>
        </p:nvSpPr>
        <p:spPr>
          <a:xfrm>
            <a:off x="651240" y="1891080"/>
            <a:ext cx="12603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Noto Sans KR"/>
              </a:rPr>
              <a:t>  </a:t>
            </a:r>
            <a:r>
              <a:rPr b="0" lang="ko-KR" sz="1200" spc="-1" strike="noStrike">
                <a:solidFill>
                  <a:srgbClr val="000000"/>
                </a:solidFill>
                <a:latin typeface="Noto Sans KR"/>
              </a:rPr>
              <a:t>적립내역 조회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8" name=""/>
          <p:cNvSpPr/>
          <p:nvPr/>
        </p:nvSpPr>
        <p:spPr>
          <a:xfrm>
            <a:off x="651240" y="2880000"/>
            <a:ext cx="12603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Noto Sans KR"/>
              </a:rPr>
              <a:t>  </a:t>
            </a:r>
            <a:r>
              <a:rPr b="0" lang="ko-KR" sz="1200" spc="-1" strike="noStrike">
                <a:solidFill>
                  <a:srgbClr val="000000"/>
                </a:solidFill>
                <a:latin typeface="Noto Sans KR"/>
              </a:rPr>
              <a:t>회원 정보 조회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9" name="모서리가 둥근 직사각형 15"/>
          <p:cNvSpPr/>
          <p:nvPr/>
        </p:nvSpPr>
        <p:spPr>
          <a:xfrm>
            <a:off x="720000" y="2880000"/>
            <a:ext cx="1078920" cy="3589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</TotalTime>
  <Application>PPT_Plus/1.0.0.0$Windows_X86_64 LibreOffice_project/</Application>
  <AppVersion>15.0000</AppVersion>
  <Words>648</Words>
  <Paragraphs>192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2026-05-31T09:38:42Z</dcterms:created>
  <dc:creator>이 승표</dc:creator>
  <dc:description/>
  <dc:language>ko-KR</dc:language>
  <cp:lastModifiedBy/>
  <dcterms:modified xsi:type="dcterms:W3CDTF">2026-06-08T12:25:22Z</dcterms:modified>
  <cp:revision>23</cp:revision>
  <dc:subject/>
  <dc:title>PowerPoint 프레젠테이션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와이드스크린</vt:lpwstr>
  </property>
  <property fmtid="{D5CDD505-2E9C-101B-9397-08002B2CF9AE}" pid="3" name="Slides">
    <vt:i4>4</vt:i4>
  </property>
</Properties>
</file>