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155A1D-F088-4948-A1D3-9AC218B5B3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87F8DB6-1DF2-4950-855C-9D4C51BBC2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FD7790B-6FD5-4084-AA65-E1E684ADFB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9C75705-28C8-4381-A3DD-A39D40B933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57B4F70-EFD4-4427-B0CF-114ACEDC68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C7F759A-D4CE-4219-BE94-3D234EE368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25E516D-F71A-42F5-B2A1-F94C48FC0E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A07A24A-8324-4BF7-A46B-9CC1EF3628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EFB402F-02A0-41D3-AF9B-676360062B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34CF43C-0B8C-45BC-B407-FA0FC610CA1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B261593-1901-460C-8923-198EFE34BA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A70903-2223-4B8D-8B28-3A9DE9CB316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2EFC86-71EF-4580-A04F-F5DC3970221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3C8EE5-42D7-48A1-943F-ED70E199E95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개요 텍스트의 서식을 편집하려면 클릭하십시오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2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3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4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5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6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7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C68EDF-0D80-4191-B252-6CD0FF1D582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1CF86F-2ACA-42B1-9F46-54189E0D168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개요 텍스트의 서식을 편집하려면 클릭하십시오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2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3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4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5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6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7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개요 텍스트의 서식을 편집하려면 클릭하십시오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2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3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4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5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6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7</a:t>
            </a: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55C8C2-72BB-4C9C-B6FC-B03E43B2A15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7A02BD-9248-4E2B-81C0-AC1DA52DF6C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62CF95-E43B-4FB7-8B76-B8A254AC912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8A6AD6-E9BE-4786-BE18-3F63EAA4A33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ko-KR" sz="4400" spc="-1" strike="noStrike">
                <a:solidFill>
                  <a:srgbClr val="000000"/>
                </a:solidFill>
                <a:latin typeface="Noto Sans KR"/>
              </a:rPr>
              <a:t>제목 텍스트의 서식을 편집하려면 클릭하십시오</a:t>
            </a:r>
            <a:r>
              <a:rPr b="0" lang="en-US" sz="4400" spc="-1" strike="noStrike">
                <a:solidFill>
                  <a:srgbClr val="000000"/>
                </a:solidFill>
                <a:latin typeface="Noto Sans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E0FC5D-454D-43A9-B87B-99DC05E316D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4783D4-EA83-44A8-8ACB-E82AAB93D8B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그래픽 1" descr="배지 체크 표시1 단색으로 채워진"/>
          <p:cNvPicPr/>
          <p:nvPr/>
        </p:nvPicPr>
        <p:blipFill>
          <a:blip r:embed="rId1"/>
          <a:stretch/>
        </p:blipFill>
        <p:spPr>
          <a:xfrm>
            <a:off x="6543720" y="3786480"/>
            <a:ext cx="368640" cy="368640"/>
          </a:xfrm>
          <a:prstGeom prst="rect">
            <a:avLst/>
          </a:prstGeom>
          <a:ln w="0">
            <a:noFill/>
          </a:ln>
        </p:spPr>
      </p:pic>
      <p:pic>
        <p:nvPicPr>
          <p:cNvPr id="51" name="그래픽 2" descr="배지 체크 표시1 단색으로 채워진"/>
          <p:cNvPicPr/>
          <p:nvPr/>
        </p:nvPicPr>
        <p:blipFill>
          <a:blip r:embed="rId2"/>
          <a:stretch/>
        </p:blipFill>
        <p:spPr>
          <a:xfrm>
            <a:off x="6565680" y="4558320"/>
            <a:ext cx="368640" cy="368640"/>
          </a:xfrm>
          <a:prstGeom prst="rect">
            <a:avLst/>
          </a:prstGeom>
          <a:ln w="0">
            <a:noFill/>
          </a:ln>
        </p:spPr>
      </p:pic>
      <p:sp>
        <p:nvSpPr>
          <p:cNvPr id="52" name="TextBox 3"/>
          <p:cNvSpPr/>
          <p:nvPr/>
        </p:nvSpPr>
        <p:spPr>
          <a:xfrm>
            <a:off x="1478160" y="1839240"/>
            <a:ext cx="3030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KoPubWorld돋움체 Light"/>
                <a:ea typeface="KoPubWorld돋움체 Light"/>
              </a:rPr>
              <a:t> </a:t>
            </a:r>
            <a:r>
              <a:rPr b="1" lang="ko-KR" sz="2000" spc="-1" strike="noStrike">
                <a:solidFill>
                  <a:schemeClr val="lt1"/>
                </a:solidFill>
                <a:latin typeface="KoPubWorld돋움체 Light"/>
                <a:ea typeface="KoPubWorld돋움체 Light"/>
              </a:rPr>
              <a:t>시범도입관 기본 지표 변화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3" name="직사각형 1"/>
          <p:cNvSpPr/>
          <p:nvPr/>
        </p:nvSpPr>
        <p:spPr>
          <a:xfrm>
            <a:off x="360000" y="356400"/>
            <a:ext cx="11508480" cy="6483240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54" name="직선 연결선 1"/>
          <p:cNvCxnSpPr/>
          <p:nvPr/>
        </p:nvCxnSpPr>
        <p:spPr>
          <a:xfrm>
            <a:off x="671760" y="848160"/>
            <a:ext cx="10969920" cy="720"/>
          </a:xfrm>
          <a:prstGeom prst="straightConnector1">
            <a:avLst/>
          </a:prstGeom>
          <a:ln w="34925">
            <a:solidFill>
              <a:srgbClr val="d0cece"/>
            </a:solidFill>
            <a:round/>
          </a:ln>
        </p:spPr>
      </p:cxnSp>
      <p:sp>
        <p:nvSpPr>
          <p:cNvPr id="55" name="직사각형 2"/>
          <p:cNvSpPr/>
          <p:nvPr/>
        </p:nvSpPr>
        <p:spPr>
          <a:xfrm>
            <a:off x="621360" y="810000"/>
            <a:ext cx="1863720" cy="87840"/>
          </a:xfrm>
          <a:prstGeom prst="rect">
            <a:avLst/>
          </a:prstGeom>
          <a:solidFill>
            <a:srgbClr val="c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3560" bIns="4356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56" name="TextBox 5"/>
          <p:cNvSpPr/>
          <p:nvPr/>
        </p:nvSpPr>
        <p:spPr>
          <a:xfrm>
            <a:off x="569160" y="471240"/>
            <a:ext cx="14886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 u="sng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KoPubWorld돋움체 Light"/>
                <a:ea typeface="KoPubWorld돋움체 Light"/>
              </a:rPr>
              <a:t>04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7" name="TextBox 6"/>
          <p:cNvSpPr/>
          <p:nvPr/>
        </p:nvSpPr>
        <p:spPr>
          <a:xfrm>
            <a:off x="866520" y="430920"/>
            <a:ext cx="21265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Noto Sans KR"/>
              </a:rPr>
              <a:t> </a:t>
            </a:r>
            <a:r>
              <a:rPr b="1" lang="ko-KR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Noto Sans KR"/>
              </a:rPr>
              <a:t>화면 흐름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" name="TextBox 7"/>
          <p:cNvSpPr/>
          <p:nvPr/>
        </p:nvSpPr>
        <p:spPr>
          <a:xfrm>
            <a:off x="619560" y="1116000"/>
            <a:ext cx="10720080" cy="55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</a:rPr>
              <a:t> 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</a:rPr>
              <a:t>대기 화면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</a:rPr>
              <a:t>    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이용 방법 선택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r>
              <a:rPr b="0" lang="ko-KR" sz="1050" spc="-1" strike="noStrike">
                <a:solidFill>
                  <a:schemeClr val="dk1"/>
                </a:solidFill>
                <a:latin typeface="Noto Sans KR"/>
                <a:ea typeface="Noto Sans KR"/>
              </a:rPr>
              <a:t>메뉴 조회 및 선택</a:t>
            </a: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옵션 선택   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장바구니 관리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할인 적용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카드 결제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포인트 적립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영수증 선택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주문 완료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r>
              <a:rPr b="0" lang="ko-KR" sz="1050" spc="-1" strike="noStrike">
                <a:solidFill>
                  <a:schemeClr val="dk1"/>
                </a:solidFill>
                <a:latin typeface="Noto Sans KR"/>
                <a:ea typeface="Noto Sans KR"/>
              </a:rPr>
              <a:t>최근 주문 재주문</a:t>
            </a:r>
            <a:endParaRPr b="0" lang="en-US" sz="105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주문완료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" name="TextBox 8"/>
          <p:cNvSpPr/>
          <p:nvPr/>
        </p:nvSpPr>
        <p:spPr>
          <a:xfrm>
            <a:off x="2520000" y="1440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화면 터치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2520000" y="1839240"/>
            <a:ext cx="449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포장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/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매장 선택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grpSp>
        <p:nvGrpSpPr>
          <p:cNvPr id="61" name="그룹 1"/>
          <p:cNvGrpSpPr/>
          <p:nvPr/>
        </p:nvGrpSpPr>
        <p:grpSpPr>
          <a:xfrm>
            <a:off x="2520000" y="1922760"/>
            <a:ext cx="5972040" cy="1496880"/>
            <a:chOff x="2520000" y="1922760"/>
            <a:chExt cx="5972040" cy="1496880"/>
          </a:xfrm>
        </p:grpSpPr>
        <p:sp>
          <p:nvSpPr>
            <p:cNvPr id="62" name="TextBox 11"/>
            <p:cNvSpPr/>
            <p:nvPr/>
          </p:nvSpPr>
          <p:spPr>
            <a:xfrm>
              <a:off x="2520000" y="2348280"/>
              <a:ext cx="597204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---- </a:t>
              </a:r>
              <a:r>
                <a:rPr b="0" lang="ko-KR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커피 </a:t>
              </a: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/ </a:t>
              </a:r>
              <a:r>
                <a:rPr b="0" lang="ko-KR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티 </a:t>
              </a: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/ </a:t>
              </a:r>
              <a:r>
                <a:rPr b="0" lang="ko-KR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디저트 </a:t>
              </a: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/ </a:t>
              </a:r>
              <a:r>
                <a:rPr b="0" lang="ko-KR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굿즈 </a:t>
              </a: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/ </a:t>
              </a:r>
              <a:r>
                <a:rPr b="0" lang="ko-KR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세트메뉴</a:t>
              </a:r>
              <a:endParaRPr b="0" lang="en-US" sz="12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63" name="설명선 2 1"/>
            <p:cNvSpPr/>
            <p:nvPr/>
          </p:nvSpPr>
          <p:spPr>
            <a:xfrm>
              <a:off x="3373560" y="3273120"/>
              <a:ext cx="984240" cy="146520"/>
            </a:xfrm>
            <a:prstGeom prst="borderCallout2">
              <a:avLst>
                <a:gd name="adj1" fmla="val 18750"/>
                <a:gd name="adj2" fmla="val -8333"/>
                <a:gd name="adj3" fmla="val 18750"/>
                <a:gd name="adj4" fmla="val -34058"/>
                <a:gd name="adj5" fmla="val -401499"/>
                <a:gd name="adj6" fmla="val -34019"/>
              </a:avLst>
            </a:prstGeom>
            <a:solidFill>
              <a:srgbClr val="ffffff"/>
            </a:solidFill>
            <a:ln>
              <a:solidFill>
                <a:srgbClr val="d0cece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ko-KR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아메리카노</a:t>
              </a:r>
              <a:r>
                <a:rPr b="0" lang="en-US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, </a:t>
              </a:r>
              <a:r>
                <a:rPr b="0" lang="ko-KR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라떼</a:t>
              </a: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64" name="설명선 2 2"/>
            <p:cNvSpPr/>
            <p:nvPr/>
          </p:nvSpPr>
          <p:spPr>
            <a:xfrm>
              <a:off x="4881240" y="1922760"/>
              <a:ext cx="984240" cy="146520"/>
            </a:xfrm>
            <a:prstGeom prst="borderCallout2">
              <a:avLst>
                <a:gd name="adj1" fmla="val 18750"/>
                <a:gd name="adj2" fmla="val -8333"/>
                <a:gd name="adj3" fmla="val 18750"/>
                <a:gd name="adj4" fmla="val -34058"/>
                <a:gd name="adj5" fmla="val 306270"/>
                <a:gd name="adj6" fmla="val -34019"/>
              </a:avLst>
            </a:prstGeom>
            <a:solidFill>
              <a:srgbClr val="ffffff"/>
            </a:solidFill>
            <a:ln>
              <a:solidFill>
                <a:srgbClr val="d0cece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ko-KR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텀블링</a:t>
              </a:r>
              <a:r>
                <a:rPr b="0" lang="en-US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, </a:t>
              </a:r>
              <a:r>
                <a:rPr b="0" lang="ko-KR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키링</a:t>
              </a: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65" name="설명선 2 3"/>
            <p:cNvSpPr/>
            <p:nvPr/>
          </p:nvSpPr>
          <p:spPr>
            <a:xfrm>
              <a:off x="3782160" y="3082320"/>
              <a:ext cx="984240" cy="146520"/>
            </a:xfrm>
            <a:prstGeom prst="borderCallout2">
              <a:avLst>
                <a:gd name="adj1" fmla="val 18750"/>
                <a:gd name="adj2" fmla="val -8333"/>
                <a:gd name="adj3" fmla="val 18750"/>
                <a:gd name="adj4" fmla="val -34058"/>
                <a:gd name="adj5" fmla="val -295664"/>
                <a:gd name="adj6" fmla="val -34019"/>
              </a:avLst>
            </a:prstGeom>
            <a:solidFill>
              <a:srgbClr val="ffffff"/>
            </a:solidFill>
            <a:ln>
              <a:solidFill>
                <a:srgbClr val="d0cece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ko-KR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허브티</a:t>
              </a:r>
              <a:r>
                <a:rPr b="0" lang="en-US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, </a:t>
              </a:r>
              <a:r>
                <a:rPr b="0" lang="ko-KR" sz="8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맑은 고딕"/>
                </a:rPr>
                <a:t>아이스티</a:t>
              </a: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</p:grpSp>
      <p:sp>
        <p:nvSpPr>
          <p:cNvPr id="66" name="설명선 2 4"/>
          <p:cNvSpPr/>
          <p:nvPr/>
        </p:nvSpPr>
        <p:spPr>
          <a:xfrm>
            <a:off x="8267760" y="2340000"/>
            <a:ext cx="2891880" cy="5814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34058"/>
              <a:gd name="adj5" fmla="val 20246"/>
              <a:gd name="adj6" fmla="val -45100"/>
            </a:avLst>
          </a:prstGeom>
          <a:solidFill>
            <a:srgbClr val="ffffff"/>
          </a:solidFill>
          <a:ln w="22225">
            <a:solidFill>
              <a:srgbClr val="ffd966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ko-KR" sz="9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옵션 선택 </a:t>
            </a:r>
            <a:r>
              <a:rPr b="1" lang="en-US" sz="9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: HOT · ICE / </a:t>
            </a:r>
            <a:r>
              <a:rPr b="1" lang="ko-KR" sz="9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사이즈</a:t>
            </a:r>
            <a:r>
              <a:rPr b="1" lang="en-US" sz="9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(M ·L) / </a:t>
            </a:r>
            <a:r>
              <a:rPr b="1" lang="ko-KR" sz="9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수량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7" name="설명선 2 5"/>
          <p:cNvSpPr/>
          <p:nvPr/>
        </p:nvSpPr>
        <p:spPr>
          <a:xfrm>
            <a:off x="5040000" y="3507480"/>
            <a:ext cx="984240" cy="14652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34058"/>
              <a:gd name="adj5" fmla="val -189829"/>
              <a:gd name="adj6" fmla="val -34019"/>
            </a:avLst>
          </a:prstGeom>
          <a:solidFill>
            <a:srgbClr val="ffffff"/>
          </a:solidFill>
          <a:ln>
            <a:solidFill>
              <a:srgbClr val="d0cece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ko-KR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쿠키</a:t>
            </a:r>
            <a:r>
              <a:rPr b="0" lang="en-US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, </a:t>
            </a:r>
            <a:r>
              <a:rPr b="0" lang="ko-KR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케이크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" name="설명선 2 6"/>
          <p:cNvSpPr/>
          <p:nvPr/>
        </p:nvSpPr>
        <p:spPr>
          <a:xfrm>
            <a:off x="5760000" y="2379600"/>
            <a:ext cx="984240" cy="32004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34058"/>
              <a:gd name="adj5" fmla="val 50617"/>
              <a:gd name="adj6" fmla="val -45979"/>
            </a:avLst>
          </a:prstGeom>
          <a:solidFill>
            <a:srgbClr val="ffffff"/>
          </a:solidFill>
          <a:ln>
            <a:solidFill>
              <a:srgbClr val="d0cece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ko-KR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음료 </a:t>
            </a:r>
            <a:r>
              <a:rPr b="0" lang="en-US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+ </a:t>
            </a:r>
            <a:r>
              <a:rPr b="0" lang="ko-KR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디저트 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@</a:t>
            </a:r>
            <a:r>
              <a:rPr b="0" lang="ko-KR" sz="8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굿즈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2557800" y="350748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수량변경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/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상품삭제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/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총액 확인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grpSp>
        <p:nvGrpSpPr>
          <p:cNvPr id="70" name="그룹 2"/>
          <p:cNvGrpSpPr/>
          <p:nvPr/>
        </p:nvGrpSpPr>
        <p:grpSpPr>
          <a:xfrm>
            <a:off x="6705000" y="3600000"/>
            <a:ext cx="1574640" cy="1028160"/>
            <a:chOff x="6705000" y="3600000"/>
            <a:chExt cx="1574640" cy="1028160"/>
          </a:xfrm>
        </p:grpSpPr>
        <p:sp>
          <p:nvSpPr>
            <p:cNvPr id="71" name="직사각형 3"/>
            <p:cNvSpPr/>
            <p:nvPr/>
          </p:nvSpPr>
          <p:spPr>
            <a:xfrm>
              <a:off x="7152120" y="3600000"/>
              <a:ext cx="1127520" cy="901800"/>
            </a:xfrm>
            <a:prstGeom prst="rect">
              <a:avLst/>
            </a:prstGeom>
            <a:noFill/>
            <a:ln w="15875">
              <a:solidFill>
                <a:srgbClr val="f4b183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맑은 고딕"/>
              </a:endParaRPr>
            </a:p>
          </p:txBody>
        </p:sp>
        <p:sp>
          <p:nvSpPr>
            <p:cNvPr id="72" name="직사각형 4"/>
            <p:cNvSpPr/>
            <p:nvPr/>
          </p:nvSpPr>
          <p:spPr>
            <a:xfrm>
              <a:off x="7318080" y="4371480"/>
              <a:ext cx="893520" cy="256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1" lang="ko-KR" sz="800" spc="-1" strike="noStrike">
                  <a:solidFill>
                    <a:schemeClr val="dk1">
                      <a:lumMod val="50000"/>
                      <a:lumOff val="50000"/>
                    </a:schemeClr>
                  </a:solidFill>
                  <a:latin typeface="맑은 고딕"/>
                </a:rPr>
                <a:t>메뉴선택 ◀◀</a:t>
              </a: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73" name="직사각형 5"/>
            <p:cNvSpPr/>
            <p:nvPr/>
          </p:nvSpPr>
          <p:spPr>
            <a:xfrm>
              <a:off x="6705000" y="3767400"/>
              <a:ext cx="893520" cy="56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800" spc="-1" strike="noStrike">
                  <a:solidFill>
                    <a:schemeClr val="dk1">
                      <a:lumMod val="50000"/>
                      <a:lumOff val="50000"/>
                    </a:schemeClr>
                  </a:solidFill>
                  <a:latin typeface="맑은 고딕"/>
                </a:rPr>
                <a:t>▼</a:t>
              </a: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US" sz="800" spc="-1" strike="noStrike">
                  <a:solidFill>
                    <a:schemeClr val="dk1">
                      <a:lumMod val="50000"/>
                      <a:lumOff val="50000"/>
                    </a:schemeClr>
                  </a:solidFill>
                  <a:latin typeface="맑은 고딕"/>
                </a:rPr>
                <a:t>▼</a:t>
              </a: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  <a:p>
              <a:pPr algn="ctr" defTabSz="914400">
                <a:lnSpc>
                  <a:spcPct val="100000"/>
                </a:lnSpc>
              </a:pP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ko-KR" sz="800" spc="-1" strike="noStrike">
                  <a:solidFill>
                    <a:schemeClr val="dk1">
                      <a:lumMod val="50000"/>
                      <a:lumOff val="50000"/>
                    </a:schemeClr>
                  </a:solidFill>
                  <a:latin typeface="맑은 고딕"/>
                </a:rPr>
                <a:t>추가주문</a:t>
              </a:r>
              <a:endParaRPr b="0" lang="en-US" sz="8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</p:grpSp>
      <p:cxnSp>
        <p:nvCxnSpPr>
          <p:cNvPr id="74" name="직선 연결선 2"/>
          <p:cNvCxnSpPr/>
          <p:nvPr/>
        </p:nvCxnSpPr>
        <p:spPr>
          <a:xfrm>
            <a:off x="6275160" y="3646440"/>
            <a:ext cx="745560" cy="720"/>
          </a:xfrm>
          <a:prstGeom prst="straightConnector1">
            <a:avLst/>
          </a:prstGeom>
          <a:ln w="15875">
            <a:solidFill>
              <a:srgbClr val="f4b183"/>
            </a:solidFill>
            <a:prstDash val="dash"/>
            <a:round/>
          </a:ln>
        </p:spPr>
      </p:cxnSp>
      <p:sp>
        <p:nvSpPr>
          <p:cNvPr id="75" name="TextBox 14"/>
          <p:cNvSpPr/>
          <p:nvPr/>
        </p:nvSpPr>
        <p:spPr>
          <a:xfrm>
            <a:off x="2550600" y="404748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쿠폰 입력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/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모닝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·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런치 할인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2557080" y="440748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카드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(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현금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X)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7" name="TextBox 16"/>
          <p:cNvSpPr/>
          <p:nvPr/>
        </p:nvSpPr>
        <p:spPr>
          <a:xfrm>
            <a:off x="2550600" y="479628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전화 번호 입력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/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적립 안함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8" name="TextBox 17"/>
          <p:cNvSpPr/>
          <p:nvPr/>
        </p:nvSpPr>
        <p:spPr>
          <a:xfrm>
            <a:off x="2557080" y="512748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출력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/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스마트 영수증 </a:t>
            </a: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/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미발급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9" name="TextBox 18"/>
          <p:cNvSpPr/>
          <p:nvPr/>
        </p:nvSpPr>
        <p:spPr>
          <a:xfrm>
            <a:off x="2550600" y="5580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주문 번호 표시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0" name="TextBox 21"/>
          <p:cNvSpPr/>
          <p:nvPr/>
        </p:nvSpPr>
        <p:spPr>
          <a:xfrm>
            <a:off x="2557080" y="5940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고객의 최근 주문 내역 조회 및 재 주문 여부 확인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1" name="모서리가 둥근 직사각형 3"/>
          <p:cNvSpPr/>
          <p:nvPr/>
        </p:nvSpPr>
        <p:spPr>
          <a:xfrm>
            <a:off x="720000" y="1080000"/>
            <a:ext cx="1063080" cy="2761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2" name="모서리가 둥근 직사각형 4"/>
          <p:cNvSpPr/>
          <p:nvPr/>
        </p:nvSpPr>
        <p:spPr>
          <a:xfrm>
            <a:off x="736560" y="1839240"/>
            <a:ext cx="1063080" cy="2761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3" name="모서리가 둥근 직사각형 5"/>
          <p:cNvSpPr/>
          <p:nvPr/>
        </p:nvSpPr>
        <p:spPr>
          <a:xfrm>
            <a:off x="736560" y="3420000"/>
            <a:ext cx="1063080" cy="359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4" name="모서리가 둥근 직사각형 6"/>
          <p:cNvSpPr/>
          <p:nvPr/>
        </p:nvSpPr>
        <p:spPr>
          <a:xfrm>
            <a:off x="718920" y="4047840"/>
            <a:ext cx="1063080" cy="27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5" name="모서리가 둥근 직사각형 7"/>
          <p:cNvSpPr/>
          <p:nvPr/>
        </p:nvSpPr>
        <p:spPr>
          <a:xfrm>
            <a:off x="723600" y="4407840"/>
            <a:ext cx="1063080" cy="27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6" name="모서리가 둥근 직사각형 8"/>
          <p:cNvSpPr/>
          <p:nvPr/>
        </p:nvSpPr>
        <p:spPr>
          <a:xfrm>
            <a:off x="726840" y="4767840"/>
            <a:ext cx="1063080" cy="27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7" name="모서리가 둥근 직사각형 9"/>
          <p:cNvSpPr/>
          <p:nvPr/>
        </p:nvSpPr>
        <p:spPr>
          <a:xfrm>
            <a:off x="736560" y="5167800"/>
            <a:ext cx="1063080" cy="27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8" name="모서리가 둥근 직사각형 10"/>
          <p:cNvSpPr/>
          <p:nvPr/>
        </p:nvSpPr>
        <p:spPr>
          <a:xfrm>
            <a:off x="736560" y="5545080"/>
            <a:ext cx="1063080" cy="27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89" name="모서리가 둥근 직사각형 11"/>
          <p:cNvSpPr/>
          <p:nvPr/>
        </p:nvSpPr>
        <p:spPr>
          <a:xfrm>
            <a:off x="726840" y="5919840"/>
            <a:ext cx="1063080" cy="27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90" name="모서리가 둥근 직사각형 12"/>
          <p:cNvSpPr/>
          <p:nvPr/>
        </p:nvSpPr>
        <p:spPr>
          <a:xfrm>
            <a:off x="720000" y="1440000"/>
            <a:ext cx="1063080" cy="2761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91" name="모서리가 둥근 직사각형 13"/>
          <p:cNvSpPr/>
          <p:nvPr/>
        </p:nvSpPr>
        <p:spPr>
          <a:xfrm rot="21579600">
            <a:off x="756360" y="2342880"/>
            <a:ext cx="1043640" cy="3564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92" name=""/>
          <p:cNvSpPr/>
          <p:nvPr/>
        </p:nvSpPr>
        <p:spPr>
          <a:xfrm>
            <a:off x="10800000" y="1080000"/>
            <a:ext cx="899640" cy="5507640"/>
          </a:xfrm>
          <a:prstGeom prst="downArrow">
            <a:avLst>
              <a:gd name="adj1" fmla="val 50000"/>
              <a:gd name="adj2" fmla="val 153000"/>
            </a:avLst>
          </a:prstGeom>
          <a:solidFill>
            <a:srgbClr val="1c1c1c"/>
          </a:solidFill>
          <a:ln w="1260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KR"/>
            </a:endParaRPr>
          </a:p>
        </p:txBody>
      </p:sp>
      <p:sp>
        <p:nvSpPr>
          <p:cNvPr id="93" name="모서리가 둥근 직사각형 14"/>
          <p:cNvSpPr/>
          <p:nvPr/>
        </p:nvSpPr>
        <p:spPr>
          <a:xfrm>
            <a:off x="736560" y="6300000"/>
            <a:ext cx="1063080" cy="27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94" name="TextBox 23"/>
          <p:cNvSpPr/>
          <p:nvPr/>
        </p:nvSpPr>
        <p:spPr>
          <a:xfrm>
            <a:off x="2550600" y="6300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주문 완료 안내 및 시스템 주문완료 번호 생성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5" name="설명선 2 7"/>
          <p:cNvSpPr/>
          <p:nvPr/>
        </p:nvSpPr>
        <p:spPr>
          <a:xfrm>
            <a:off x="7547760" y="6258240"/>
            <a:ext cx="2891880" cy="5814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34058"/>
              <a:gd name="adj5" fmla="val 20246"/>
              <a:gd name="adj6" fmla="val -45100"/>
            </a:avLst>
          </a:prstGeom>
          <a:solidFill>
            <a:srgbClr val="ffffff"/>
          </a:solidFill>
          <a:ln w="22225">
            <a:solidFill>
              <a:srgbClr val="1c1c1c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ko-KR" sz="1200" spc="-1" strike="noStrike">
                <a:solidFill>
                  <a:schemeClr val="dk1">
                    <a:lumMod val="50000"/>
                    <a:lumOff val="50000"/>
                  </a:schemeClr>
                </a:solidFill>
                <a:latin typeface="맑은 고딕"/>
              </a:rPr>
              <a:t>회원별 맞춤 즐겨 찾기 메뉴 생성 안내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그래픽 31" descr="배지 체크 표시1 단색으로 채워진"/>
          <p:cNvPicPr/>
          <p:nvPr/>
        </p:nvPicPr>
        <p:blipFill>
          <a:blip r:embed="rId1"/>
          <a:stretch/>
        </p:blipFill>
        <p:spPr>
          <a:xfrm>
            <a:off x="6543720" y="3786480"/>
            <a:ext cx="368640" cy="368640"/>
          </a:xfrm>
          <a:prstGeom prst="rect">
            <a:avLst/>
          </a:prstGeom>
          <a:ln w="0">
            <a:noFill/>
          </a:ln>
        </p:spPr>
      </p:pic>
      <p:pic>
        <p:nvPicPr>
          <p:cNvPr id="97" name="그래픽 31" descr="배지 체크 표시1 단색으로 채워진"/>
          <p:cNvPicPr/>
          <p:nvPr/>
        </p:nvPicPr>
        <p:blipFill>
          <a:blip r:embed="rId2"/>
          <a:stretch/>
        </p:blipFill>
        <p:spPr>
          <a:xfrm>
            <a:off x="6565680" y="4558320"/>
            <a:ext cx="368640" cy="368640"/>
          </a:xfrm>
          <a:prstGeom prst="rect">
            <a:avLst/>
          </a:prstGeom>
          <a:ln w="0">
            <a:noFill/>
          </a:ln>
        </p:spPr>
      </p:pic>
      <p:sp>
        <p:nvSpPr>
          <p:cNvPr id="98" name="TextBox 231"/>
          <p:cNvSpPr/>
          <p:nvPr/>
        </p:nvSpPr>
        <p:spPr>
          <a:xfrm>
            <a:off x="1478160" y="1839240"/>
            <a:ext cx="3030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KoPubWorld돋움체 Light"/>
                <a:ea typeface="KoPubWorld돋움체 Light"/>
              </a:rPr>
              <a:t> </a:t>
            </a:r>
            <a:r>
              <a:rPr b="1" lang="ko-KR" sz="2000" spc="-1" strike="noStrike">
                <a:solidFill>
                  <a:schemeClr val="lt1"/>
                </a:solidFill>
                <a:latin typeface="KoPubWorld돋움체 Light"/>
                <a:ea typeface="KoPubWorld돋움체 Light"/>
              </a:rPr>
              <a:t>시범도입관 기본 지표 변화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9" name="직사각형 11"/>
          <p:cNvSpPr/>
          <p:nvPr/>
        </p:nvSpPr>
        <p:spPr>
          <a:xfrm>
            <a:off x="360000" y="360000"/>
            <a:ext cx="11508480" cy="6299640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직선 연결선 22"/>
          <p:cNvCxnSpPr/>
          <p:nvPr/>
        </p:nvCxnSpPr>
        <p:spPr>
          <a:xfrm>
            <a:off x="671760" y="848160"/>
            <a:ext cx="10969920" cy="720"/>
          </a:xfrm>
          <a:prstGeom prst="straightConnector1">
            <a:avLst/>
          </a:prstGeom>
          <a:ln w="34925">
            <a:solidFill>
              <a:srgbClr val="d0cece"/>
            </a:solidFill>
            <a:round/>
          </a:ln>
        </p:spPr>
      </p:cxnSp>
      <p:sp>
        <p:nvSpPr>
          <p:cNvPr id="101" name="직사각형 23"/>
          <p:cNvSpPr/>
          <p:nvPr/>
        </p:nvSpPr>
        <p:spPr>
          <a:xfrm>
            <a:off x="621360" y="810000"/>
            <a:ext cx="1863720" cy="87840"/>
          </a:xfrm>
          <a:prstGeom prst="rect">
            <a:avLst/>
          </a:prstGeom>
          <a:solidFill>
            <a:srgbClr val="c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3560" bIns="43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02" name="TextBox 25"/>
          <p:cNvSpPr/>
          <p:nvPr/>
        </p:nvSpPr>
        <p:spPr>
          <a:xfrm>
            <a:off x="569160" y="471240"/>
            <a:ext cx="14886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 u="sng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KoPubWorld돋움체 Light"/>
                <a:ea typeface="KoPubWorld돋움체 Light"/>
              </a:rPr>
              <a:t>05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3" name="TextBox 26"/>
          <p:cNvSpPr/>
          <p:nvPr/>
        </p:nvSpPr>
        <p:spPr>
          <a:xfrm>
            <a:off x="866520" y="430920"/>
            <a:ext cx="32731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Noto Sans KR"/>
              </a:rPr>
              <a:t> </a:t>
            </a:r>
            <a:r>
              <a:rPr b="1" lang="ko-KR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Noto Sans KR"/>
              </a:rPr>
              <a:t>화면 흐름</a:t>
            </a:r>
            <a:r>
              <a:rPr b="1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Noto Sans KR"/>
              </a:rPr>
              <a:t>(</a:t>
            </a:r>
            <a:r>
              <a:rPr b="1" lang="ko-KR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Noto Sans KR"/>
              </a:rPr>
              <a:t>회원 전용 테이블</a:t>
            </a:r>
            <a:r>
              <a:rPr b="1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Noto Sans KR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4" name="TextBox 4"/>
          <p:cNvSpPr/>
          <p:nvPr/>
        </p:nvSpPr>
        <p:spPr>
          <a:xfrm>
            <a:off x="619560" y="1080000"/>
            <a:ext cx="1072008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</a:rPr>
              <a:t>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</a:rPr>
              <a:t>회원 등급 관리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</a:rPr>
              <a:t>    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r>
              <a:rPr b="0" lang="ko-KR" sz="1050" spc="-1" strike="noStrike">
                <a:solidFill>
                  <a:schemeClr val="dk1"/>
                </a:solidFill>
                <a:latin typeface="Noto Sans KR"/>
                <a:ea typeface="Noto Sans KR"/>
              </a:rPr>
              <a:t>쿠폰 관리</a:t>
            </a: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적립 내역 조회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r>
              <a:rPr b="0" lang="ko-KR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회원 정보 조회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</a:t>
            </a:r>
            <a:r>
              <a:rPr b="1" lang="ko-KR" sz="900" spc="-1" strike="noStrike">
                <a:solidFill>
                  <a:schemeClr val="dk1"/>
                </a:solidFill>
                <a:latin typeface="Noto Sans KR"/>
                <a:ea typeface="Noto Sans KR"/>
              </a:rPr>
              <a:t>회원 전용 혜택 안내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Noto Sans KR"/>
                <a:ea typeface="Noto Sans KR"/>
              </a:rPr>
              <a:t>      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2581560" y="1089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화면 터치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6" name="TextBox 19"/>
          <p:cNvSpPr/>
          <p:nvPr/>
        </p:nvSpPr>
        <p:spPr>
          <a:xfrm>
            <a:off x="2587680" y="1800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회원 고객 쿠폰 보유 및 사용 여부 확인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7" name="TextBox 37"/>
          <p:cNvSpPr/>
          <p:nvPr/>
        </p:nvSpPr>
        <p:spPr>
          <a:xfrm>
            <a:off x="2557800" y="2700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회원의 포인트 적립 및 사용 내역 조회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8" name="TextBox 44"/>
          <p:cNvSpPr/>
          <p:nvPr/>
        </p:nvSpPr>
        <p:spPr>
          <a:xfrm>
            <a:off x="2557080" y="342000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회원의 개인정보 확인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9" name="TextBox 45"/>
          <p:cNvSpPr/>
          <p:nvPr/>
        </p:nvSpPr>
        <p:spPr>
          <a:xfrm>
            <a:off x="2557080" y="4108320"/>
            <a:ext cx="4649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---- </a:t>
            </a:r>
            <a:r>
              <a:rPr b="0" lang="ko-KR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맑은 고딕"/>
              </a:rPr>
              <a:t>회원 등급 별 추가 할인 혜택 안내 및 추가 할인 혜택 유도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0" name="모서리가 둥근 직사각형 41"/>
          <p:cNvSpPr/>
          <p:nvPr/>
        </p:nvSpPr>
        <p:spPr>
          <a:xfrm>
            <a:off x="720000" y="1089000"/>
            <a:ext cx="1063080" cy="2761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111" name="모서리가 둥근 직사각형 53"/>
          <p:cNvSpPr/>
          <p:nvPr/>
        </p:nvSpPr>
        <p:spPr>
          <a:xfrm>
            <a:off x="720000" y="3420000"/>
            <a:ext cx="1079640" cy="359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112" name="모서리가 둥근 직사각형 54"/>
          <p:cNvSpPr/>
          <p:nvPr/>
        </p:nvSpPr>
        <p:spPr>
          <a:xfrm>
            <a:off x="720000" y="4038480"/>
            <a:ext cx="1079640" cy="359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113" name="모서리가 둥근 직사각형 1"/>
          <p:cNvSpPr/>
          <p:nvPr/>
        </p:nvSpPr>
        <p:spPr>
          <a:xfrm>
            <a:off x="736560" y="1800000"/>
            <a:ext cx="1063080" cy="3153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114" name="모서리가 둥근 직사각형 2"/>
          <p:cNvSpPr/>
          <p:nvPr/>
        </p:nvSpPr>
        <p:spPr>
          <a:xfrm rot="21579600">
            <a:off x="720360" y="2700000"/>
            <a:ext cx="1080000" cy="3204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80808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115" name=""/>
          <p:cNvSpPr/>
          <p:nvPr/>
        </p:nvSpPr>
        <p:spPr>
          <a:xfrm>
            <a:off x="10800000" y="1080000"/>
            <a:ext cx="899640" cy="5507640"/>
          </a:xfrm>
          <a:prstGeom prst="downArrow">
            <a:avLst>
              <a:gd name="adj1" fmla="val 50000"/>
              <a:gd name="adj2" fmla="val 153000"/>
            </a:avLst>
          </a:prstGeom>
          <a:solidFill>
            <a:srgbClr val="1c1c1c"/>
          </a:solidFill>
          <a:ln w="1260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 pitchFamily="0" charset="1"/>
        <a:ea typeface=""/>
        <a:cs typeface=""/>
      </a:majorFont>
      <a:minorFont>
        <a:latin typeface="맑은 고딕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</TotalTime>
  <Application>PPT_Plus/1.0.0.0$Windows_X86_64 LibreOffice_project/</Application>
  <AppVersion>15.0000</AppVersion>
  <Words>648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2026-05-31T09:38:42Z</dcterms:created>
  <dc:creator>이 승표</dc:creator>
  <dc:description/>
  <dc:language>ko-KR</dc:language>
  <cp:lastModifiedBy/>
  <dcterms:modified xsi:type="dcterms:W3CDTF">2026-06-08T11:33:14Z</dcterms:modified>
  <cp:revision>21</cp:revision>
  <dc:subject/>
  <dc:title>PowerPoint 프레젠테이션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4</vt:i4>
  </property>
</Properties>
</file>